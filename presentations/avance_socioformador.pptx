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63240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577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900" b="1">
                <a:solidFill>
                  <a:srgbClr val="FFFFFF"/>
                </a:solidFill>
                <a:latin typeface="Arial"/>
              </a:rPr>
              <a:t>Discriminación de excedencias de ozono día-estación bajo el umbral de 51 ppb de la NOM-020-SSA1-2021</a:t>
            </a:r>
          </a:p>
          <a:p>
            <a:pPr algn="ctr">
              <a:lnSpc>
                <a:spcPct val="105000"/>
              </a:lnSpc>
              <a:spcBef>
                <a:spcPts val="1400"/>
              </a:spcBef>
            </a:pPr>
            <a:r>
              <a:rPr sz="1700">
                <a:solidFill>
                  <a:srgbClr val="C9D3EC"/>
                </a:solidFill>
                <a:latin typeface="Arial"/>
              </a:rPr>
              <a:t>Comparación de análisis discriminante lineal y regresión logística en 15 estaciones del SIMA, Área Metropolitana de Monterrey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>
                <a:solidFill>
                  <a:srgbClr val="22242B"/>
                </a:solidFill>
                <a:latin typeface="Arial"/>
              </a:rPr>
              <a:t>Eduardo Luna</a:t>
            </a:r>
            <a:r>
              <a:rPr sz="1700">
                <a:solidFill>
                  <a:srgbClr val="4A63A8"/>
                </a:solidFill>
                <a:latin typeface="Arial"/>
              </a:rPr>
              <a:t>     •     </a:t>
            </a:r>
            <a:r>
              <a:rPr sz="1700">
                <a:solidFill>
                  <a:srgbClr val="22242B"/>
                </a:solidFill>
                <a:latin typeface="Arial"/>
              </a:rPr>
              <a:t>Jenaro Alcaraz</a:t>
            </a:r>
            <a:r>
              <a:rPr sz="1700">
                <a:solidFill>
                  <a:srgbClr val="4A63A8"/>
                </a:solidFill>
                <a:latin typeface="Arial"/>
              </a:rPr>
              <a:t>     •     </a:t>
            </a:r>
            <a:r>
              <a:rPr sz="1700">
                <a:solidFill>
                  <a:srgbClr val="22242B"/>
                </a:solidFill>
                <a:latin typeface="Arial"/>
              </a:rPr>
              <a:t>Emilia Rico</a:t>
            </a:r>
            <a:r>
              <a:rPr sz="1700">
                <a:solidFill>
                  <a:srgbClr val="4A63A8"/>
                </a:solidFill>
                <a:latin typeface="Arial"/>
              </a:rPr>
              <a:t>     •     </a:t>
            </a:r>
            <a:r>
              <a:rPr sz="1700">
                <a:solidFill>
                  <a:srgbClr val="22242B"/>
                </a:solidFill>
                <a:latin typeface="Arial"/>
              </a:rPr>
              <a:t>Mar Fernández</a:t>
            </a:r>
            <a:r>
              <a:rPr sz="1700">
                <a:solidFill>
                  <a:srgbClr val="4A63A8"/>
                </a:solidFill>
                <a:latin typeface="Arial"/>
              </a:rPr>
              <a:t>     •     </a:t>
            </a:r>
            <a:r>
              <a:rPr sz="1700">
                <a:solidFill>
                  <a:srgbClr val="22242B"/>
                </a:solidFill>
                <a:latin typeface="Arial"/>
              </a:rPr>
              <a:t>Sofía Fernández</a:t>
            </a:r>
          </a:p>
          <a:p>
            <a:pPr algn="ctr">
              <a:lnSpc>
                <a:spcPct val="115000"/>
              </a:lnSpc>
              <a:spcBef>
                <a:spcPts val="2000"/>
              </a:spcBef>
            </a:pPr>
            <a:r>
              <a:rPr sz="1300">
                <a:solidFill>
                  <a:srgbClr val="5C606B"/>
                </a:solidFill>
                <a:latin typeface="Arial"/>
              </a:rPr>
              <a:t>Instituto Tecnológico y de Estudios Superiores de Monterrey
MA2003B — Aplicación de Métodos Multivariados en Ciencia de Datos — Grupo 102.07</a:t>
            </a:r>
          </a:p>
          <a:p>
            <a:pPr algn="ctr">
              <a:spcBef>
                <a:spcPts val="2200"/>
              </a:spcBef>
            </a:pPr>
            <a:r>
              <a:rPr sz="1400">
                <a:solidFill>
                  <a:srgbClr val="22242B"/>
                </a:solidFill>
                <a:latin typeface="Arial"/>
              </a:rPr>
              <a:t>3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Qué buscamos y cómo tratamos los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ctr"/>
            <a:r>
              <a:rPr sz="1100">
                <a:solidFill>
                  <a:srgbClr val="D6DCEE"/>
                </a:solidFill>
                <a:latin typeface="Arial"/>
              </a:rPr>
              <a:t>Equipo 102.07  —  MA2003B  •  Excedencias de ozono en el AMM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73952"/>
            <a:ext cx="8229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D6DCEE"/>
                </a:solidFill>
                <a:latin typeface="Arial"/>
              </a:rPr>
              <a:t>2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3C7A"/>
                </a:solidFill>
                <a:latin typeface="Arial"/>
              </a:rPr>
              <a:t>El objetivo.  </a:t>
            </a:r>
            <a:r>
              <a:rPr sz="1400" b="0">
                <a:solidFill>
                  <a:srgbClr val="22242B"/>
                </a:solidFill>
                <a:latin typeface="Arial"/>
              </a:rPr>
              <a:t>Identificar, día por día y por estación, cuándo el aire del Área Metropolitana de Monterrey superó el límite de ozono de la norma oficial (</a:t>
            </a:r>
            <a:r>
              <a:rPr sz="1400" b="1">
                <a:solidFill>
                  <a:srgbClr val="2B3C7A"/>
                </a:solidFill>
                <a:latin typeface="Arial"/>
              </a:rPr>
              <a:t>51 ppb</a:t>
            </a:r>
            <a:r>
              <a:rPr sz="1400" b="0">
                <a:solidFill>
                  <a:srgbClr val="22242B"/>
                </a:solidFill>
                <a:latin typeface="Arial"/>
              </a:rPr>
              <a:t>, meta a cinco años de la NOM-020-SSA1-2021), a partir de los contaminantes y el clima de ese mismo día. El modelo </a:t>
            </a:r>
            <a:r>
              <a:rPr sz="1400" b="1">
                <a:solidFill>
                  <a:srgbClr val="2B3C7A"/>
                </a:solidFill>
                <a:latin typeface="Arial"/>
              </a:rPr>
              <a:t>explica</a:t>
            </a:r>
            <a:r>
              <a:rPr sz="1400" b="0">
                <a:solidFill>
                  <a:srgbClr val="22242B"/>
                </a:solidFill>
                <a:latin typeface="Arial"/>
              </a:rPr>
              <a:t> qué acompaña esos episodios; no </a:t>
            </a:r>
            <a:r>
              <a:rPr sz="1400" b="1">
                <a:solidFill>
                  <a:srgbClr val="2B3C7A"/>
                </a:solidFill>
                <a:latin typeface="Arial"/>
              </a:rPr>
              <a:t>predice</a:t>
            </a:r>
            <a:r>
              <a:rPr sz="1400" b="0">
                <a:solidFill>
                  <a:srgbClr val="22242B"/>
                </a:solidFill>
                <a:latin typeface="Arial"/>
              </a:rPr>
              <a:t> los siguientes.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6949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2B3C7A"/>
                </a:solidFill>
                <a:latin typeface="Arial"/>
              </a:rPr>
              <a:t>Qué hicimos con los datos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4A63A8"/>
                </a:solidFill>
                <a:latin typeface="Arial"/>
              </a:rPr>
              <a:t>▪  </a:t>
            </a:r>
            <a:r>
              <a:rPr sz="1300" b="1">
                <a:solidFill>
                  <a:srgbClr val="2B3C7A"/>
                </a:solidFill>
                <a:latin typeface="Arial"/>
              </a:rPr>
              <a:t>Huecos</a:t>
            </a:r>
            <a:r>
              <a:rPr sz="1300" b="0">
                <a:solidFill>
                  <a:srgbClr val="22242B"/>
                </a:solidFill>
                <a:latin typeface="Arial"/>
              </a:rPr>
              <a:t>: rellenamos el </a:t>
            </a:r>
            <a:r>
              <a:rPr sz="1300" b="1">
                <a:solidFill>
                  <a:srgbClr val="2B3C7A"/>
                </a:solidFill>
                <a:latin typeface="Arial"/>
              </a:rPr>
              <a:t>1.67 %</a:t>
            </a:r>
            <a:r>
              <a:rPr sz="1300" b="0">
                <a:solidFill>
                  <a:srgbClr val="22242B"/>
                </a:solidFill>
                <a:latin typeface="Arial"/>
              </a:rPr>
              <a:t> de los datos faltantes uniendo la medición anterior con la siguiente, solo cuando el hueco dura 3 horas o menos. Los paros largos se dejan vacíos.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4A63A8"/>
                </a:solidFill>
                <a:latin typeface="Arial"/>
              </a:rPr>
              <a:t>▪  </a:t>
            </a:r>
            <a:r>
              <a:rPr sz="1300" b="1">
                <a:solidFill>
                  <a:srgbClr val="2B3C7A"/>
                </a:solidFill>
                <a:latin typeface="Arial"/>
              </a:rPr>
              <a:t>Valores extremos: se detectan, pero se conservan.</a:t>
            </a:r>
            <a:r>
              <a:rPr sz="1300" b="0">
                <a:solidFill>
                  <a:srgbClr val="22242B"/>
                </a:solidFill>
                <a:latin typeface="Arial"/>
              </a:rPr>
              <a:t> Queremos justamente clasificar los días de excedencia; quitar los valores altos nos quitaría la información más relevante.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4A63A8"/>
                </a:solidFill>
                <a:latin typeface="Arial"/>
              </a:rPr>
              <a:t>▪  </a:t>
            </a:r>
            <a:r>
              <a:rPr sz="1300" b="1">
                <a:solidFill>
                  <a:srgbClr val="2B3C7A"/>
                </a:solidFill>
                <a:latin typeface="Arial"/>
              </a:rPr>
              <a:t>Lo que sí se elimina son errores del equipo</a:t>
            </a:r>
            <a:r>
              <a:rPr sz="1300" b="0">
                <a:solidFill>
                  <a:srgbClr val="22242B"/>
                </a:solidFill>
                <a:latin typeface="Arial"/>
              </a:rPr>
              <a:t>: el código de dato ausente del registrador (−9999), los topes de saturación del sensor (999, 1000, 1001) y las lecturas fuera del rango físico que el aparato puede medir. Menos del 0.02 % de los datos.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3C7A"/>
                </a:solidFill>
                <a:latin typeface="Arial"/>
              </a:rPr>
              <a:t>Los tres ejes.</a:t>
            </a:r>
            <a:r>
              <a:rPr sz="1300" b="0">
                <a:solidFill>
                  <a:srgbClr val="22242B"/>
                </a:solidFill>
                <a:latin typeface="Arial"/>
              </a:rPr>
              <a:t> Muchas de las 15 variables se mueven juntas (</a:t>
            </a:r>
            <a:r>
              <a:rPr sz="1200" b="0">
                <a:solidFill>
                  <a:srgbClr val="22242B"/>
                </a:solidFill>
                <a:latin typeface="Courier New"/>
              </a:rPr>
              <a:t>NO</a:t>
            </a:r>
            <a:r>
              <a:rPr sz="1300" b="0">
                <a:solidFill>
                  <a:srgbClr val="22242B"/>
                </a:solidFill>
                <a:latin typeface="Arial"/>
              </a:rPr>
              <a:t> y </a:t>
            </a:r>
            <a:r>
              <a:rPr sz="1200" b="0">
                <a:solidFill>
                  <a:srgbClr val="22242B"/>
                </a:solidFill>
                <a:latin typeface="Courier New"/>
              </a:rPr>
              <a:t>NOX</a:t>
            </a:r>
            <a:r>
              <a:rPr sz="1300" b="0">
                <a:solidFill>
                  <a:srgbClr val="22242B"/>
                </a:solidFill>
                <a:latin typeface="Arial"/>
              </a:rPr>
              <a:t> casi como una sola), así que las resumimos en tres ejes —quema de combustibles, qué tan soleado y seco está el día, y qué tanto se estanca el aire— que conservan el </a:t>
            </a:r>
            <a:r>
              <a:rPr sz="1300" b="1">
                <a:solidFill>
                  <a:srgbClr val="2B3C7A"/>
                </a:solidFill>
                <a:latin typeface="Arial"/>
              </a:rPr>
              <a:t>55.9 %</a:t>
            </a:r>
            <a:r>
              <a:rPr sz="1300" b="0">
                <a:solidFill>
                  <a:srgbClr val="22242B"/>
                </a:solidFill>
                <a:latin typeface="Arial"/>
              </a:rPr>
              <a:t> de esa información y alimentan los modelos.</a:t>
            </a:r>
          </a:p>
        </p:txBody>
      </p:sp>
      <p:pic>
        <p:nvPicPr>
          <p:cNvPr id="7" name="Picture 6" descr="fig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240280"/>
            <a:ext cx="3840480" cy="28067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5166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C606B"/>
                </a:solidFill>
                <a:latin typeface="Arial"/>
              </a:rPr>
              <a:t>Información que aporta cada eje.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Los dos modelos que probamos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ctr"/>
            <a:r>
              <a:rPr sz="1100">
                <a:solidFill>
                  <a:srgbClr val="D6DCEE"/>
                </a:solidFill>
                <a:latin typeface="Arial"/>
              </a:rPr>
              <a:t>Equipo 102.07  —  MA2003B  •  Excedencias de ozono en el AMM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73952"/>
            <a:ext cx="8229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D6DCEE"/>
                </a:solidFill>
                <a:latin typeface="Arial"/>
              </a:rP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3C7A"/>
                </a:solidFill>
                <a:latin typeface="Arial"/>
              </a:rPr>
              <a:t>Cómo los evaluamos.  </a:t>
            </a:r>
            <a:r>
              <a:rPr sz="1400" b="0">
                <a:solidFill>
                  <a:srgbClr val="22242B"/>
                </a:solidFill>
                <a:latin typeface="Arial"/>
              </a:rPr>
              <a:t>Ambos aprenden con los años 2021–2024 y se califican con 2025, fechas que no vieron durante el ajuste.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949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B3C7A"/>
                </a:solidFill>
                <a:latin typeface="Arial"/>
              </a:rPr>
              <a:t>Regresión logística.</a:t>
            </a:r>
            <a:r>
              <a:rPr sz="1400" b="0">
                <a:solidFill>
                  <a:srgbClr val="22242B"/>
                </a:solidFill>
                <a:latin typeface="Arial"/>
              </a:rPr>
              <a:t> Estima la probabilidad de que un día exceda el límite y dice cuánto pesa cada condición.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A63A8"/>
                </a:solidFill>
                <a:latin typeface="Arial"/>
              </a:rPr>
              <a:t>▪  </a:t>
            </a:r>
            <a:r>
              <a:rPr sz="1250" b="0">
                <a:solidFill>
                  <a:srgbClr val="22242B"/>
                </a:solidFill>
                <a:latin typeface="Arial"/>
              </a:rPr>
              <a:t>Distingue los días con y sin excedencia con una calificación de </a:t>
            </a:r>
            <a:r>
              <a:rPr sz="1250" b="1">
                <a:solidFill>
                  <a:srgbClr val="2B3C7A"/>
                </a:solidFill>
                <a:latin typeface="Arial"/>
              </a:rPr>
              <a:t>0.893</a:t>
            </a:r>
            <a:r>
              <a:rPr sz="1250" b="0">
                <a:solidFill>
                  <a:srgbClr val="22242B"/>
                </a:solidFill>
                <a:latin typeface="Arial"/>
              </a:rPr>
              <a:t> sobre 1, muy por encima de la meta de 0.75.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A63A8"/>
                </a:solidFill>
                <a:latin typeface="Arial"/>
              </a:rPr>
              <a:t>▪  </a:t>
            </a:r>
            <a:r>
              <a:rPr sz="1250" b="0">
                <a:solidFill>
                  <a:srgbClr val="22242B"/>
                </a:solidFill>
                <a:latin typeface="Arial"/>
              </a:rPr>
              <a:t>Detecta el </a:t>
            </a:r>
            <a:r>
              <a:rPr sz="1250" b="1">
                <a:solidFill>
                  <a:srgbClr val="2B3C7A"/>
                </a:solidFill>
                <a:latin typeface="Arial"/>
              </a:rPr>
              <a:t>83.1 %</a:t>
            </a:r>
            <a:r>
              <a:rPr sz="1250" b="0">
                <a:solidFill>
                  <a:srgbClr val="22242B"/>
                </a:solidFill>
                <a:latin typeface="Arial"/>
              </a:rPr>
              <a:t> de las excedencias reales y descarta bien el </a:t>
            </a:r>
            <a:r>
              <a:rPr sz="1250" b="1">
                <a:solidFill>
                  <a:srgbClr val="2B3C7A"/>
                </a:solidFill>
                <a:latin typeface="Arial"/>
              </a:rPr>
              <a:t>82.4 %</a:t>
            </a:r>
            <a:r>
              <a:rPr sz="1250" b="0">
                <a:solidFill>
                  <a:srgbClr val="22242B"/>
                </a:solidFill>
                <a:latin typeface="Arial"/>
              </a:rPr>
              <a:t> de los días limpios.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4A63A8"/>
                </a:solidFill>
                <a:latin typeface="Arial"/>
              </a:rPr>
              <a:t>▪  </a:t>
            </a:r>
            <a:r>
              <a:rPr sz="1250" b="0">
                <a:solidFill>
                  <a:srgbClr val="22242B"/>
                </a:solidFill>
                <a:latin typeface="Arial"/>
              </a:rPr>
              <a:t>Lo que más empuja hacia la excedencia es la </a:t>
            </a:r>
            <a:r>
              <a:rPr sz="1250" b="1">
                <a:solidFill>
                  <a:srgbClr val="2B3C7A"/>
                </a:solidFill>
                <a:latin typeface="Arial"/>
              </a:rPr>
              <a:t>primavera</a:t>
            </a:r>
            <a:r>
              <a:rPr sz="1250" b="0">
                <a:solidFill>
                  <a:srgbClr val="22242B"/>
                </a:solidFill>
                <a:latin typeface="Arial"/>
              </a:rPr>
              <a:t>, seguida del otoño y de las zonas Noroeste y Suroeste.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B3C7A"/>
                </a:solidFill>
                <a:latin typeface="Arial"/>
              </a:rPr>
              <a:t>Discriminante lineal.</a:t>
            </a:r>
            <a:r>
              <a:rPr sz="1300" b="0">
                <a:solidFill>
                  <a:srgbClr val="22242B"/>
                </a:solidFill>
                <a:latin typeface="Arial"/>
              </a:rPr>
              <a:t> La otra técnica; parte de supuestos más fuertes sobre la forma de los datos.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4A63A8"/>
                </a:solidFill>
                <a:latin typeface="Arial"/>
              </a:rPr>
              <a:t>▪  </a:t>
            </a:r>
            <a:r>
              <a:rPr sz="1250" b="0">
                <a:solidFill>
                  <a:srgbClr val="22242B"/>
                </a:solidFill>
                <a:latin typeface="Arial"/>
              </a:rPr>
              <a:t>Uno de esos supuestos no se cumple: los días de excedencia varían menos que los demás.</a:t>
            </a:r>
          </a:p>
          <a:p>
            <a:pPr marL="256032" indent="-256032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4A63A8"/>
                </a:solidFill>
                <a:latin typeface="Arial"/>
              </a:rPr>
              <a:t>▪  </a:t>
            </a:r>
            <a:r>
              <a:rPr sz="1250" b="0">
                <a:solidFill>
                  <a:srgbClr val="22242B"/>
                </a:solidFill>
                <a:latin typeface="Arial"/>
              </a:rPr>
              <a:t>Aun así llega a la misma calificación de </a:t>
            </a:r>
            <a:r>
              <a:rPr sz="1250" b="1">
                <a:solidFill>
                  <a:srgbClr val="2B3C7A"/>
                </a:solidFill>
                <a:latin typeface="Arial"/>
              </a:rPr>
              <a:t>0.893</a:t>
            </a:r>
            <a:r>
              <a:rPr sz="1250" b="0">
                <a:solidFill>
                  <a:srgbClr val="22242B"/>
                </a:solidFill>
                <a:latin typeface="Arial"/>
              </a:rPr>
              <a:t>, detectando el </a:t>
            </a:r>
            <a:r>
              <a:rPr sz="1250" b="1">
                <a:solidFill>
                  <a:srgbClr val="2B3C7A"/>
                </a:solidFill>
                <a:latin typeface="Arial"/>
              </a:rPr>
              <a:t>84.5 %</a:t>
            </a:r>
            <a:r>
              <a:rPr sz="1250" b="0">
                <a:solidFill>
                  <a:srgbClr val="22242B"/>
                </a:solidFill>
                <a:latin typeface="Arial"/>
              </a:rPr>
              <a:t> de las excedencias y acertando en el </a:t>
            </a:r>
            <a:r>
              <a:rPr sz="1250" b="1">
                <a:solidFill>
                  <a:srgbClr val="2B3C7A"/>
                </a:solidFill>
                <a:latin typeface="Arial"/>
              </a:rPr>
              <a:t>81.1 %</a:t>
            </a:r>
            <a:r>
              <a:rPr sz="1250" b="0">
                <a:solidFill>
                  <a:srgbClr val="22242B"/>
                </a:solidFill>
                <a:latin typeface="Arial"/>
              </a:rPr>
              <a:t> de los días limpios.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3C7A"/>
                </a:solidFill>
                <a:latin typeface="Arial"/>
              </a:rPr>
              <a:t>Comparación.</a:t>
            </a:r>
            <a:r>
              <a:rPr sz="1300" b="0">
                <a:solidFill>
                  <a:srgbClr val="22242B"/>
                </a:solidFill>
                <a:latin typeface="Arial"/>
              </a:rPr>
              <a:t> Los dos coinciden en el </a:t>
            </a:r>
            <a:r>
              <a:rPr sz="1300" b="1">
                <a:solidFill>
                  <a:srgbClr val="2B3C7A"/>
                </a:solidFill>
                <a:latin typeface="Arial"/>
              </a:rPr>
              <a:t>98.1 %</a:t>
            </a:r>
            <a:r>
              <a:rPr sz="1300" b="0">
                <a:solidFill>
                  <a:srgbClr val="22242B"/>
                </a:solidFill>
                <a:latin typeface="Arial"/>
              </a:rPr>
              <a:t> de sus decisiones y una prueba estadística no encuentra diferencia real entre ellos.</a:t>
            </a:r>
          </a:p>
        </p:txBody>
      </p:sp>
      <p:pic>
        <p:nvPicPr>
          <p:cNvPr id="7" name="Picture 6" descr="fig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65960"/>
            <a:ext cx="3657600" cy="2558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48920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5C606B"/>
                </a:solidFill>
                <a:latin typeface="Arial"/>
              </a:rPr>
              <a:t>Las dos curvas se superponen casi por completo.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365760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Lo que concluimos hasta ahora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B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ctr"/>
            <a:r>
              <a:rPr sz="1100">
                <a:solidFill>
                  <a:srgbClr val="D6DCEE"/>
                </a:solidFill>
                <a:latin typeface="Arial"/>
              </a:rPr>
              <a:t>Equipo 102.07  —  MA2003B  •  Excedencias de ozono en el AMM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73952"/>
            <a:ext cx="8229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100">
                <a:solidFill>
                  <a:srgbClr val="D6DCEE"/>
                </a:solidFill>
                <a:latin typeface="Arial"/>
              </a:rPr>
              <a:t>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411480" indent="-411480">
              <a:lnSpc>
                <a:spcPct val="102000"/>
              </a:lnSpc>
              <a:spcBef>
                <a:spcPts val="0"/>
              </a:spcBef>
              <a:spcAft>
                <a:spcPts val="2000"/>
              </a:spcAft>
            </a:pPr>
            <a:r>
              <a:rPr sz="1500" b="1">
                <a:solidFill>
                  <a:srgbClr val="4A63A8"/>
                </a:solidFill>
                <a:latin typeface="Arial"/>
              </a:rPr>
              <a:t>i.  </a:t>
            </a:r>
            <a:r>
              <a:rPr sz="1500" b="1">
                <a:solidFill>
                  <a:srgbClr val="2B3C7A"/>
                </a:solidFill>
                <a:latin typeface="Arial"/>
              </a:rPr>
              <a:t>Los dos modelos llegan a lo mismo.</a:t>
            </a:r>
            <a:r>
              <a:rPr sz="1500" b="0">
                <a:solidFill>
                  <a:srgbClr val="22242B"/>
                </a:solidFill>
                <a:latin typeface="Arial"/>
              </a:rPr>
              <a:t> Aciertan casi igual, lo que indica que la frontera entre días de excedencia y días limpios la marcan los datos y no el método elegido.</a:t>
            </a:r>
          </a:p>
          <a:p>
            <a:pPr marL="411480" indent="-411480">
              <a:lnSpc>
                <a:spcPct val="102000"/>
              </a:lnSpc>
              <a:spcBef>
                <a:spcPts val="0"/>
              </a:spcBef>
              <a:spcAft>
                <a:spcPts val="2000"/>
              </a:spcAft>
            </a:pPr>
            <a:r>
              <a:rPr sz="1500" b="1">
                <a:solidFill>
                  <a:srgbClr val="4A63A8"/>
                </a:solidFill>
                <a:latin typeface="Arial"/>
              </a:rPr>
              <a:t>ii.  </a:t>
            </a:r>
            <a:r>
              <a:rPr sz="1500" b="1">
                <a:solidFill>
                  <a:srgbClr val="2B3C7A"/>
                </a:solidFill>
                <a:latin typeface="Arial"/>
              </a:rPr>
              <a:t>La temporada del año manda sobre todo lo demás.</a:t>
            </a:r>
            <a:r>
              <a:rPr sz="1500" b="0">
                <a:solidFill>
                  <a:srgbClr val="22242B"/>
                </a:solidFill>
                <a:latin typeface="Arial"/>
              </a:rPr>
              <a:t> Un día de primavera tiene cinco veces más posibilidades de excedencia que uno de invierno en igualdad de condiciones. La excedencia de ozono es, ante todo, un fenómeno estacional.</a:t>
            </a:r>
          </a:p>
          <a:p>
            <a:pPr marL="411480" indent="-411480">
              <a:lnSpc>
                <a:spcPct val="102000"/>
              </a:lnSpc>
              <a:spcBef>
                <a:spcPts val="0"/>
              </a:spcBef>
              <a:spcAft>
                <a:spcPts val="2000"/>
              </a:spcAft>
            </a:pPr>
            <a:r>
              <a:rPr sz="1500" b="1">
                <a:solidFill>
                  <a:srgbClr val="4A63A8"/>
                </a:solidFill>
                <a:latin typeface="Arial"/>
              </a:rPr>
              <a:t>iii.  </a:t>
            </a:r>
            <a:r>
              <a:rPr sz="1500" b="1">
                <a:solidFill>
                  <a:srgbClr val="2B3C7A"/>
                </a:solidFill>
                <a:latin typeface="Arial"/>
              </a:rPr>
              <a:t>Hay algo del territorio que no estamos midiendo.</a:t>
            </a:r>
            <a:r>
              <a:rPr sz="1500" b="0">
                <a:solidFill>
                  <a:srgbClr val="22242B"/>
                </a:solidFill>
                <a:latin typeface="Arial"/>
              </a:rPr>
              <a:t> El Noroeste y el Suroeste tienen alrededor de </a:t>
            </a:r>
            <a:r>
              <a:rPr sz="1500" b="1">
                <a:solidFill>
                  <a:srgbClr val="2B3C7A"/>
                </a:solidFill>
                <a:latin typeface="Arial"/>
              </a:rPr>
              <a:t>tres veces</a:t>
            </a:r>
            <a:r>
              <a:rPr sz="1500" b="0">
                <a:solidFill>
                  <a:srgbClr val="22242B"/>
                </a:solidFill>
                <a:latin typeface="Arial"/>
              </a:rPr>
              <a:t> las posibilidades del Noreste aun con el mismo clima: algo propio de esas zonas, que las variables disponibles no capturan, las vuelve zonas de riesgo.</a:t>
            </a:r>
          </a:p>
          <a:p>
            <a:pPr marL="411480" indent="-411480">
              <a:lnSpc>
                <a:spcPct val="102000"/>
              </a:lnSpc>
              <a:spcBef>
                <a:spcPts val="0"/>
              </a:spcBef>
              <a:spcAft>
                <a:spcPts val="2000"/>
              </a:spcAft>
            </a:pPr>
            <a:r>
              <a:rPr sz="1500" b="1">
                <a:solidFill>
                  <a:srgbClr val="4A63A8"/>
                </a:solidFill>
                <a:latin typeface="Arial"/>
              </a:rPr>
              <a:t>iv.  </a:t>
            </a:r>
            <a:r>
              <a:rPr sz="1500" b="1">
                <a:solidFill>
                  <a:srgbClr val="2B3C7A"/>
                </a:solidFill>
                <a:latin typeface="Arial"/>
              </a:rPr>
              <a:t>El calendario laboral casi no influye.</a:t>
            </a:r>
            <a:r>
              <a:rPr sz="1500" b="0">
                <a:solidFill>
                  <a:srgbClr val="22242B"/>
                </a:solidFill>
                <a:latin typeface="Arial"/>
              </a:rPr>
              <a:t> Solo el domingo muestra un efecto, y modesto; sábados y días festivos no se distinguen de un día laborable. Montar un estudio sobre el “efecto fin de semana” con estos datos daría un resultado débil.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